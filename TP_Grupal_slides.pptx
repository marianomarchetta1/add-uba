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Dataset de películas IMDB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Base pública de 117 films con datos de crítica, votos y taquilla.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Arial"/>
              </a:rPr>
              <a:t>117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películas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7C3AED"/>
                </a:solidFill>
                <a:latin typeface="Arial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D97706"/>
                </a:solidFill>
                <a:latin typeface="Arial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géneros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9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75569"/>
                </a:solidFill>
                <a:latin typeface="Arial"/>
              </a:rPr>
              <a:t>7.9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rating prom.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5394960" cy="3108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  <a:latin typeface="Arial"/>
              </a:rPr>
              <a:t>Estructura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5029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D2433"/>
                </a:solidFill>
                <a:latin typeface="Arial"/>
              </a:rPr>
              <a:t>3 tablas relacionadas por Movie_id:</a:t>
            </a:r>
          </a:p>
          <a:p>
            <a:pPr algn="l"/>
            <a:r>
              <a:rPr sz="1350" b="0">
                <a:solidFill>
                  <a:srgbClr val="1D2433"/>
                </a:solidFill>
                <a:latin typeface="Arial"/>
              </a:rPr>
              <a:t>• IMDB — rating, votos, presupuesto, duración</a:t>
            </a:r>
          </a:p>
          <a:p>
            <a:pPr algn="l"/>
            <a:r>
              <a:rPr sz="1350" b="0">
                <a:solidFill>
                  <a:srgbClr val="1D2433"/>
                </a:solidFill>
                <a:latin typeface="Arial"/>
              </a:rPr>
              <a:t>• earning — recaudación local y mundial</a:t>
            </a:r>
          </a:p>
          <a:p>
            <a:pPr algn="l"/>
            <a:r>
              <a:rPr sz="1350" b="0">
                <a:solidFill>
                  <a:srgbClr val="1D2433"/>
                </a:solidFill>
                <a:latin typeface="Arial"/>
              </a:rPr>
              <a:t>• genre — género (relación 1-a-muchos)</a:t>
            </a:r>
          </a:p>
          <a:p>
            <a:pPr algn="l"/>
            <a:r>
              <a:rPr sz="1350" b="0">
                <a:solidFill>
                  <a:srgbClr val="1D2433"/>
                </a:solidFill>
                <a:latin typeface="Arial"/>
              </a:rPr>
              <a:t>Variables numéricas + categóricas (título, género).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91840"/>
            <a:ext cx="5394960" cy="310896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Arial"/>
              </a:rPr>
              <a:t>Desafíos a priori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39"/>
            <a:ext cx="5029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D2433"/>
                </a:solidFill>
                <a:latin typeface="Arial"/>
              </a:rPr>
              <a:t>• 54 variables, pero 45 son desgloses de votos por demografía → alta dimensionalidad</a:t>
            </a:r>
          </a:p>
          <a:p>
            <a:pPr algn="l"/>
            <a:r>
              <a:rPr sz="1250" b="0">
                <a:solidFill>
                  <a:srgbClr val="1D2433"/>
                </a:solidFill>
                <a:latin typeface="Arial"/>
              </a:rPr>
              <a:t>• Columnas numéricas guardadas como texto (Runtime '134 min', Budget, MetaCritic)</a:t>
            </a:r>
          </a:p>
          <a:p>
            <a:pPr algn="l"/>
            <a:r>
              <a:rPr sz="1250" b="0">
                <a:solidFill>
                  <a:srgbClr val="1D2433"/>
                </a:solidFill>
                <a:latin typeface="Arial"/>
              </a:rPr>
              <a:t>• Nulos: Runtime 21, MetaCritic 7, Budget 3</a:t>
            </a:r>
          </a:p>
          <a:p>
            <a:pPr algn="l"/>
            <a:r>
              <a:rPr sz="1250" b="0">
                <a:solidFill>
                  <a:srgbClr val="1D2433"/>
                </a:solidFill>
                <a:latin typeface="Arial"/>
              </a:rPr>
              <a:t>• 41 filas con género vacío</a:t>
            </a:r>
          </a:p>
          <a:p>
            <a:pPr algn="l"/>
            <a:r>
              <a:rPr sz="1250" b="0">
                <a:solidFill>
                  <a:srgbClr val="1D2433"/>
                </a:solidFill>
                <a:latin typeface="Arial"/>
              </a:rPr>
              <a:t>• Hay que unir 3 tablas para el análisis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Qué nos dicen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rial"/>
              </a:rPr>
              <a:t>Rating promedio 7.9  ·  género top: Drama  ·  más votada: Inception (2010)</a:t>
            </a:r>
          </a:p>
        </p:txBody>
      </p:sp>
      <p:pic>
        <p:nvPicPr>
          <p:cNvPr id="5" name="Picture 4" descr="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03520" cy="3847194"/>
          </a:xfrm>
          <a:prstGeom prst="rect">
            <a:avLst/>
          </a:prstGeom>
        </p:spPr>
      </p:pic>
      <p:pic>
        <p:nvPicPr>
          <p:cNvPr id="6" name="Picture 5" descr="gen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5303520" cy="3411379"/>
          </a:xfrm>
          <a:prstGeom prst="rect">
            <a:avLst/>
          </a:prstGeom>
        </p:spPr>
      </p:pic>
      <p:pic>
        <p:nvPicPr>
          <p:cNvPr id="7" name="Picture 6" descr="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06240"/>
            <a:ext cx="5303520" cy="3837569"/>
          </a:xfrm>
          <a:prstGeom prst="rect">
            <a:avLst/>
          </a:prstGeom>
        </p:spPr>
      </p:pic>
      <p:pic>
        <p:nvPicPr>
          <p:cNvPr id="8" name="Picture 7" descr="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206240"/>
            <a:ext cx="5303520" cy="3612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Relaciones entre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rial"/>
              </a:rPr>
              <a:t>El dinero genera dinero, pero no calidad: la calidad depende de lo creativo.</a:t>
            </a:r>
          </a:p>
        </p:txBody>
      </p:sp>
      <p:pic>
        <p:nvPicPr>
          <p:cNvPr id="5" name="Picture 4" descr="cor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312229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737360"/>
            <a:ext cx="52120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Arial"/>
              </a:rPr>
              <a:t>Qué nos dice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46888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D2433"/>
                </a:solidFill>
                <a:latin typeface="Arial"/>
              </a:rPr>
              <a:t>• Si inviertes MÁS dinero, GANÁS más dinero.</a:t>
            </a:r>
          </a:p>
          <a:p>
            <a:pPr algn="l"/>
            <a:r>
              <a:rPr sz="1400" b="0">
                <a:solidFill>
                  <a:srgbClr val="1D2433"/>
                </a:solidFill>
                <a:latin typeface="Arial"/>
              </a:rPr>
              <a:t>• Más presupuesto NO implica mejor calificación.</a:t>
            </a:r>
          </a:p>
          <a:p>
            <a:pPr algn="l"/>
            <a:r>
              <a:rPr sz="1400" b="0">
                <a:solidFill>
                  <a:srgbClr val="1D2433"/>
                </a:solidFill>
                <a:latin typeface="Arial"/>
              </a:rPr>
              <a:t>• Ganar más dinero NO implica mejor película.</a:t>
            </a:r>
          </a:p>
          <a:p>
            <a:pPr algn="l"/>
            <a:r>
              <a:rPr sz="1400" b="0">
                <a:solidFill>
                  <a:srgbClr val="1D2433"/>
                </a:solidFill>
                <a:latin typeface="Arial"/>
              </a:rPr>
              <a:t>• Cuanto MÁS POPULAR, mejor calificación recibe.</a:t>
            </a:r>
          </a:p>
          <a:p>
            <a:pPr algn="l"/>
            <a:r>
              <a:rPr sz="1400" b="0">
                <a:solidFill>
                  <a:srgbClr val="1D2433"/>
                </a:solidFill>
                <a:latin typeface="Arial"/>
              </a:rPr>
              <a:t>• Las películas MÁS LARGAS no son mejor calificadas.</a:t>
            </a:r>
          </a:p>
          <a:p>
            <a:pPr algn="l"/>
            <a:r>
              <a:rPr sz="1400" b="0">
                <a:solidFill>
                  <a:srgbClr val="1D2433"/>
                </a:solidFill>
                <a:latin typeface="Arial"/>
              </a:rPr>
              <a:t>• A mayor presupuesto, críticos MENOS entusiastas.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