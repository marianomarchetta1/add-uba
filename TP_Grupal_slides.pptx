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2433"/>
                </a:solidFill>
                <a:latin typeface="Arial"/>
              </a:rPr>
              <a:t>Dataset de películas IMDB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Base pública de 117 films con datos de crítica, votos y taquilla.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560320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0F766E"/>
                </a:solidFill>
                <a:latin typeface="Arial"/>
              </a:rPr>
              <a:t>117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D2433"/>
                </a:solidFill>
                <a:latin typeface="Arial"/>
              </a:rPr>
              <a:t>películas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737360"/>
            <a:ext cx="2560320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8288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7C3AED"/>
                </a:solidFill>
                <a:latin typeface="Arial"/>
              </a:rPr>
              <a:t>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146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D2433"/>
                </a:solidFill>
                <a:latin typeface="Arial"/>
              </a:rPr>
              <a:t>variables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737360"/>
            <a:ext cx="2560320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18288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97706"/>
                </a:solidFill>
                <a:latin typeface="Arial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5146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D2433"/>
                </a:solidFill>
                <a:latin typeface="Arial"/>
              </a:rPr>
              <a:t>géneros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399" y="1737360"/>
            <a:ext cx="2560320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79" y="18288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475569"/>
                </a:solidFill>
                <a:latin typeface="Arial"/>
              </a:rPr>
              <a:t>7.9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79" y="25146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D2433"/>
                </a:solidFill>
                <a:latin typeface="Arial"/>
              </a:rPr>
              <a:t>rating prom.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91840"/>
            <a:ext cx="5394960" cy="31089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290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F766E"/>
                </a:solidFill>
                <a:latin typeface="Arial"/>
              </a:rPr>
              <a:t>Estructura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77639"/>
            <a:ext cx="50292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1D2433"/>
                </a:solidFill>
                <a:latin typeface="Arial"/>
              </a:rPr>
              <a:t>3 tablas relacionadas por Movie_id:</a:t>
            </a:r>
          </a:p>
          <a:p>
            <a:pPr algn="l"/>
            <a:r>
              <a:rPr sz="1350" b="0">
                <a:solidFill>
                  <a:srgbClr val="1D2433"/>
                </a:solidFill>
                <a:latin typeface="Arial"/>
              </a:rPr>
              <a:t>• IMDB — rating, votos, presupuesto, duración</a:t>
            </a:r>
          </a:p>
          <a:p>
            <a:pPr algn="l"/>
            <a:r>
              <a:rPr sz="1350" b="0">
                <a:solidFill>
                  <a:srgbClr val="1D2433"/>
                </a:solidFill>
                <a:latin typeface="Arial"/>
              </a:rPr>
              <a:t>• earning — recaudación local y mundial</a:t>
            </a:r>
          </a:p>
          <a:p>
            <a:pPr algn="l"/>
            <a:r>
              <a:rPr sz="1350" b="0">
                <a:solidFill>
                  <a:srgbClr val="1D2433"/>
                </a:solidFill>
                <a:latin typeface="Arial"/>
              </a:rPr>
              <a:t>• genre — género (relación 1-a-muchos)</a:t>
            </a:r>
          </a:p>
          <a:p>
            <a:pPr algn="l"/>
            <a:r>
              <a:rPr sz="1350" b="0">
                <a:solidFill>
                  <a:srgbClr val="1D2433"/>
                </a:solidFill>
                <a:latin typeface="Arial"/>
              </a:rPr>
              <a:t>Variables numéricas + categóricas (título, género).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291840"/>
            <a:ext cx="5394960" cy="3108960"/>
          </a:xfrm>
          <a:prstGeom prst="round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4290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D97706"/>
                </a:solidFill>
                <a:latin typeface="Arial"/>
              </a:rPr>
              <a:t>Desafíos a priori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977639"/>
            <a:ext cx="50292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D2433"/>
                </a:solidFill>
                <a:latin typeface="Arial"/>
              </a:rPr>
              <a:t>• 54 variables, pero 45 son desgloses de votos por demografía → alta dimensionalidad</a:t>
            </a:r>
          </a:p>
          <a:p>
            <a:pPr algn="l"/>
            <a:r>
              <a:rPr sz="1250" b="0">
                <a:solidFill>
                  <a:srgbClr val="1D2433"/>
                </a:solidFill>
                <a:latin typeface="Arial"/>
              </a:rPr>
              <a:t>• Columnas numéricas guardadas como texto (Runtime '134 min', Budget, MetaCritic)</a:t>
            </a:r>
          </a:p>
          <a:p>
            <a:pPr algn="l"/>
            <a:r>
              <a:rPr sz="1250" b="0">
                <a:solidFill>
                  <a:srgbClr val="1D2433"/>
                </a:solidFill>
                <a:latin typeface="Arial"/>
              </a:rPr>
              <a:t>• Nulos: Runtime 21, MetaCritic 7, Budget 3</a:t>
            </a:r>
          </a:p>
          <a:p>
            <a:pPr algn="l"/>
            <a:r>
              <a:rPr sz="1250" b="0">
                <a:solidFill>
                  <a:srgbClr val="1D2433"/>
                </a:solidFill>
                <a:latin typeface="Arial"/>
              </a:rPr>
              <a:t>• 41 filas con género vacío</a:t>
            </a:r>
          </a:p>
          <a:p>
            <a:pPr algn="l"/>
            <a:r>
              <a:rPr sz="1250" b="0">
                <a:solidFill>
                  <a:srgbClr val="1D2433"/>
                </a:solidFill>
                <a:latin typeface="Arial"/>
              </a:rPr>
              <a:t>• Hay que unir 3 tablas para el análisis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2433"/>
                </a:solidFill>
                <a:latin typeface="Arial"/>
              </a:rPr>
              <a:t>Qué nos dicen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Rating promedio 7.9  ·  género top: Drama  ·  más votada: Inception (2010)</a:t>
            </a:r>
          </a:p>
        </p:txBody>
      </p:sp>
      <p:pic>
        <p:nvPicPr>
          <p:cNvPr id="5" name="Picture 4" descr="r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03520" cy="3847194"/>
          </a:xfrm>
          <a:prstGeom prst="rect">
            <a:avLst/>
          </a:prstGeom>
        </p:spPr>
      </p:pic>
      <p:pic>
        <p:nvPicPr>
          <p:cNvPr id="6" name="Picture 5" descr="gen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00200"/>
            <a:ext cx="5303520" cy="3411379"/>
          </a:xfrm>
          <a:prstGeom prst="rect">
            <a:avLst/>
          </a:prstGeom>
        </p:spPr>
      </p:pic>
      <p:pic>
        <p:nvPicPr>
          <p:cNvPr id="7" name="Picture 6" descr="scat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206240"/>
            <a:ext cx="5303520" cy="3837569"/>
          </a:xfrm>
          <a:prstGeom prst="rect">
            <a:avLst/>
          </a:prstGeom>
        </p:spPr>
      </p:pic>
      <p:pic>
        <p:nvPicPr>
          <p:cNvPr id="8" name="Picture 7" descr="cor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4206240"/>
            <a:ext cx="5303520" cy="43970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2433"/>
                </a:solidFill>
                <a:latin typeface="Arial"/>
              </a:rPr>
              <a:t>Relaciones entre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El dinero genera dinero, pero no calidad: la calidad depende de lo creativo.</a:t>
            </a:r>
          </a:p>
        </p:txBody>
      </p:sp>
      <p:pic>
        <p:nvPicPr>
          <p:cNvPr id="5" name="Picture 4" descr="corr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5312229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92240" y="1737360"/>
            <a:ext cx="5212080" cy="4572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874519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D97706"/>
                </a:solidFill>
                <a:latin typeface="Arial"/>
              </a:rPr>
              <a:t>Qué nos dice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468880"/>
            <a:ext cx="48463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D2433"/>
                </a:solidFill>
                <a:latin typeface="Arial"/>
              </a:rPr>
              <a:t>• Si inviertes MÁS dinero, GANÁS más dinero.</a:t>
            </a:r>
          </a:p>
          <a:p>
            <a:pPr algn="l"/>
            <a:r>
              <a:rPr sz="1400" b="0">
                <a:solidFill>
                  <a:srgbClr val="1D2433"/>
                </a:solidFill>
                <a:latin typeface="Arial"/>
              </a:rPr>
              <a:t>• Más presupuesto NO implica mejor calificación.</a:t>
            </a:r>
          </a:p>
          <a:p>
            <a:pPr algn="l"/>
            <a:r>
              <a:rPr sz="1400" b="0">
                <a:solidFill>
                  <a:srgbClr val="1D2433"/>
                </a:solidFill>
                <a:latin typeface="Arial"/>
              </a:rPr>
              <a:t>• Ganar más dinero NO implica mejor película.</a:t>
            </a:r>
          </a:p>
          <a:p>
            <a:pPr algn="l"/>
            <a:r>
              <a:rPr sz="1400" b="0">
                <a:solidFill>
                  <a:srgbClr val="1D2433"/>
                </a:solidFill>
                <a:latin typeface="Arial"/>
              </a:rPr>
              <a:t>• Cuanto MÁS POPULAR, mejor calificación recibe.</a:t>
            </a:r>
          </a:p>
          <a:p>
            <a:pPr algn="l"/>
            <a:r>
              <a:rPr sz="1400" b="0">
                <a:solidFill>
                  <a:srgbClr val="1D2433"/>
                </a:solidFill>
                <a:latin typeface="Arial"/>
              </a:rPr>
              <a:t>• Las películas MÁS LARGAS no son mejor calificadas.</a:t>
            </a:r>
          </a:p>
          <a:p>
            <a:pPr algn="l"/>
            <a:r>
              <a:rPr sz="1400" b="0">
                <a:solidFill>
                  <a:srgbClr val="1D2433"/>
                </a:solidFill>
                <a:latin typeface="Arial"/>
              </a:rPr>
              <a:t>• A mayor presupuesto, críticos MENOS entusiastas.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